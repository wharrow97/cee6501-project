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13" r:id="rId4"/>
  </p:sldMasterIdLst>
  <p:notesMasterIdLst>
    <p:notesMasterId r:id="rId20"/>
  </p:notesMasterIdLst>
  <p:handoutMasterIdLst>
    <p:handoutMasterId r:id="rId21"/>
  </p:handout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2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1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30"/>
  </p:normalViewPr>
  <p:slideViewPr>
    <p:cSldViewPr showGuides="1">
      <p:cViewPr varScale="1">
        <p:scale>
          <a:sx n="86" d="100"/>
          <a:sy n="86" d="100"/>
        </p:scale>
        <p:origin x="56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892"/>
    </p:cViewPr>
  </p:sorterViewPr>
  <p:notesViewPr>
    <p:cSldViewPr>
      <p:cViewPr varScale="1">
        <p:scale>
          <a:sx n="90" d="100"/>
          <a:sy n="90" d="100"/>
        </p:scale>
        <p:origin x="292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2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5F44E88-89D9-49CC-9E37-1AF77A031198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AC2C24E-B95E-481D-968E-0BDCFC72F656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17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385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3DFFD80-41C6-4EAA-B049-EE90EA550127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70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44210B3C-79E3-495A-B2C3-EF766F409D04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86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6235515-DA3D-4D9A-9B02-44E2CBD9110F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3613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852BD0B2-E7A7-4B81-8BAF-4B92BD6A4310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931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0E657DB-59AB-47CC-B4C7-A245A3C76BB1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393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1415DC98-F527-4737-A5B9-3597210FA2F7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496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188889-44B4-42BD-84DC-2D1A93FD44C7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99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A40708-E793-490B-9201-425C8D1F325C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2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C1968991-530B-4F8D-80FE-2192BD2DD5A5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0176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23477E6-5CE8-4544-92C7-AEB7D166FD7D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45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3EB29E-E91D-4BC9-BE3F-394F6FDC9AC7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403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AD7DA-2107-4637-8C8D-3B775970879B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4667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59F5542-E2F9-4DC1-8AB7-8E5D8714BD21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2417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597AFA7-1C4B-4AAF-9FD8-61D1DA4C999A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1670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F5F7DF4-8BE0-4832-9230-78DDDEC4B6DD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893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DD3D21CC-B9C8-49F6-ADE7-6BF4A546A74E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85427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40723AE1-14A9-42B1-9F02-B524DA830762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6216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C1166B1E-1AFA-4A7F-9646-409FBAA0A887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62236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2240801-1142-4411-9AA3-00BC0B3F40DA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992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CFA9782-9FBA-47E1-A36A-E75622F7046E}" type="datetime1">
              <a:rPr lang="en-US" smtClean="0"/>
              <a:t>4/23/2026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470453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AA28231D-ABE1-4859-B037-5D42FA8F4858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47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AAA916C4-9175-479B-9610-7E06A2EDFEE0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19643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AD2788-6390-4160-9542-0F1C554F0165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498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E6CDFB-328D-4B9A-B955-967B0C6194A8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6115477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A994DB4-9653-4FD4-8A14-5DAFB68B0E92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114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BECFC22-7333-427C-A7BB-2A423772B9A0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600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B78D85C6-8657-43F4-BE68-8F80962A5435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767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9D65A6B-59CD-4A95-97A1-5003425BCE52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34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AEBE612C-E459-4252-B286-C98BDF4C5E92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242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D8568ADA-B78D-4076-A9DF-6C8E04B71243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58293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E3ED234F-BBE0-48A3-AC31-D10A1F3BC187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9622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A0D3809-2B53-482D-AD1B-8B09C4B2656C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194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154F04C1-B149-48D4-90B8-E64820B32F59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20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1AED7B4-8DB4-40B0-90CF-49D3708442C0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74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861E720-2EA4-4832-8DC2-DC3D2BDBB07C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051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B608D6C-D0F1-479F-911E-8569D2F1ED15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12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BCFCC67-CBC1-48BE-A467-33E284003C9C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551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BF01E07-9F97-42AE-9FE9-3EAD856BDB2A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7991821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34B2334-B27F-4DA0-8A92-599603070D6B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1602196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B8D85F-DE7D-4C09-9BDD-03377313F809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2918804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8CAF44C-1683-44E3-97C5-DF51C69BF7AA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439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150565-788C-402B-B078-3F96B9A231B8}" type="datetime1">
              <a:rPr lang="en-US" smtClean="0"/>
              <a:t>4/23/2026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35362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7B20C69-CB4E-44F7-A408-67C55627795C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1525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0C8FE45-F91B-4375-B362-4DC6F9A2A304}" type="datetime1">
              <a:rPr lang="en-US" smtClean="0"/>
              <a:t>4/23/2026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99015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572A1522-8F1E-408E-ABA2-6F5B206582B8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65434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E19A776-5AE6-4251-8560-C6066D0B46D6}" type="datetime1">
              <a:rPr lang="en-US" smtClean="0"/>
              <a:t>4/23/2026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8313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95FFA61-E651-4E50-A159-710A5ED7E6FE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20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E9E0D87-B7D0-4C2E-BAD1-97A555313A20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364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29814657-813A-4D7B-A2F8-E573BA1645D3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49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9" r:id="rId1"/>
    <p:sldLayoutId id="2147484115" r:id="rId2"/>
    <p:sldLayoutId id="2147484114" r:id="rId3"/>
    <p:sldLayoutId id="2147484116" r:id="rId4"/>
    <p:sldLayoutId id="2147484117" r:id="rId5"/>
    <p:sldLayoutId id="2147484118" r:id="rId6"/>
    <p:sldLayoutId id="2147484120" r:id="rId7"/>
    <p:sldLayoutId id="2147484121" r:id="rId8"/>
    <p:sldLayoutId id="2147484122" r:id="rId9"/>
    <p:sldLayoutId id="2147484169" r:id="rId10"/>
    <p:sldLayoutId id="2147484124" r:id="rId11"/>
    <p:sldLayoutId id="2147484125" r:id="rId12"/>
    <p:sldLayoutId id="2147484126" r:id="rId13"/>
    <p:sldLayoutId id="2147484127" r:id="rId14"/>
    <p:sldLayoutId id="2147484128" r:id="rId15"/>
    <p:sldLayoutId id="2147484129" r:id="rId16"/>
    <p:sldLayoutId id="2147484130" r:id="rId17"/>
    <p:sldLayoutId id="2147484131" r:id="rId18"/>
    <p:sldLayoutId id="2147484132" r:id="rId19"/>
    <p:sldLayoutId id="2147484133" r:id="rId20"/>
    <p:sldLayoutId id="2147484134" r:id="rId21"/>
    <p:sldLayoutId id="2147484135" r:id="rId22"/>
    <p:sldLayoutId id="2147484136" r:id="rId23"/>
    <p:sldLayoutId id="2147484137" r:id="rId24"/>
    <p:sldLayoutId id="2147484138" r:id="rId25"/>
    <p:sldLayoutId id="2147484139" r:id="rId26"/>
    <p:sldLayoutId id="2147484140" r:id="rId27"/>
    <p:sldLayoutId id="2147484141" r:id="rId28"/>
    <p:sldLayoutId id="2147484142" r:id="rId29"/>
    <p:sldLayoutId id="2147484143" r:id="rId30"/>
    <p:sldLayoutId id="2147484144" r:id="rId31"/>
    <p:sldLayoutId id="2147484145" r:id="rId32"/>
    <p:sldLayoutId id="2147484146" r:id="rId33"/>
    <p:sldLayoutId id="2147484147" r:id="rId34"/>
    <p:sldLayoutId id="2147484148" r:id="rId35"/>
    <p:sldLayoutId id="2147484149" r:id="rId36"/>
    <p:sldLayoutId id="2147484150" r:id="rId37"/>
    <p:sldLayoutId id="2147484152" r:id="rId38"/>
    <p:sldLayoutId id="2147484153" r:id="rId39"/>
    <p:sldLayoutId id="2147484157" r:id="rId40"/>
    <p:sldLayoutId id="2147484158" r:id="rId41"/>
    <p:sldLayoutId id="2147484159" r:id="rId42"/>
    <p:sldLayoutId id="2147484160" r:id="rId43"/>
    <p:sldLayoutId id="2147484161" r:id="rId44"/>
    <p:sldLayoutId id="2147484162" r:id="rId45"/>
    <p:sldLayoutId id="2147484163" r:id="rId46"/>
    <p:sldLayoutId id="2147484164" r:id="rId47"/>
    <p:sldLayoutId id="2147484165" r:id="rId48"/>
    <p:sldLayoutId id="2147484166" r:id="rId49"/>
    <p:sldLayoutId id="2147484167" r:id="rId50"/>
    <p:sldLayoutId id="2147484168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F4B6-3F85-6E67-ED81-212443682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0CBC46-76F5-CB3F-9BF0-DE7BBD3C6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dirty="0"/>
              <a:t>CEE 6501 Final Project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CA5C5AD-7278-E875-15B7-835123AC22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By: Wynn Harrow</a:t>
            </a:r>
          </a:p>
        </p:txBody>
      </p:sp>
    </p:spTree>
    <p:extLst>
      <p:ext uri="{BB962C8B-B14F-4D97-AF65-F5344CB8AC3E}">
        <p14:creationId xmlns:p14="http://schemas.microsoft.com/office/powerpoint/2010/main" val="2812452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A3F01-4B15-10BD-75DC-EF6E91D08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DE967-C090-9C46-7C85-E0EABDB55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GitHub and Code Structure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User Input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DSM Solver Workflow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Validations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Key Decisions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Complex Structure Study</a:t>
            </a:r>
          </a:p>
        </p:txBody>
      </p:sp>
    </p:spTree>
    <p:extLst>
      <p:ext uri="{BB962C8B-B14F-4D97-AF65-F5344CB8AC3E}">
        <p14:creationId xmlns:p14="http://schemas.microsoft.com/office/powerpoint/2010/main" val="2365065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00A00-60FB-FF61-FED2-312EA61F4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and code structure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60C44B7-DC3F-6CF4-6769-076EFD3D8E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19600" y="1676400"/>
            <a:ext cx="2800093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113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AAD10-9DC0-F16A-7063-220EA2DBA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input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2E1129-77F7-2F61-4773-A05C8285B8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828800"/>
            <a:ext cx="1889924" cy="5944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25C277-169B-483C-96E3-2A79A3572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1828800"/>
            <a:ext cx="8062659" cy="3886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5F10C9-4D9C-7C64-8BB1-8483D32BF3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201" y="2344433"/>
            <a:ext cx="5257800" cy="2199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6F138-056A-3F00-05B2-3844EB3310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2267" y="2709111"/>
            <a:ext cx="1996613" cy="4267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F90CC6F-969A-AF7C-80E9-4EC2F8F0F185}"/>
              </a:ext>
            </a:extLst>
          </p:cNvPr>
          <p:cNvSpPr txBox="1"/>
          <p:nvPr/>
        </p:nvSpPr>
        <p:spPr>
          <a:xfrm>
            <a:off x="1816092" y="2297668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x,    y,   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3F89B3-8ACA-7B68-54EB-1CA96030A730}"/>
              </a:ext>
            </a:extLst>
          </p:cNvPr>
          <p:cNvSpPr txBox="1"/>
          <p:nvPr/>
        </p:nvSpPr>
        <p:spPr>
          <a:xfrm>
            <a:off x="1752600" y="3091190"/>
            <a:ext cx="13756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ux</a:t>
            </a:r>
            <a:r>
              <a:rPr lang="en-US" sz="1100" dirty="0"/>
              <a:t>, </a:t>
            </a:r>
            <a:r>
              <a:rPr lang="en-US" sz="1100" dirty="0" err="1"/>
              <a:t>uy</a:t>
            </a:r>
            <a:r>
              <a:rPr lang="en-US" sz="1100" dirty="0"/>
              <a:t>, </a:t>
            </a:r>
            <a:r>
              <a:rPr lang="en-US" sz="1100" dirty="0" err="1"/>
              <a:t>uz</a:t>
            </a:r>
            <a:r>
              <a:rPr lang="en-US" sz="1100" dirty="0"/>
              <a:t>, </a:t>
            </a:r>
            <a:r>
              <a:rPr lang="en-US" sz="1100" dirty="0" err="1"/>
              <a:t>rx</a:t>
            </a:r>
            <a:r>
              <a:rPr lang="en-US" sz="1100" dirty="0"/>
              <a:t>, </a:t>
            </a:r>
            <a:r>
              <a:rPr lang="en-US" sz="1100" dirty="0" err="1"/>
              <a:t>ry</a:t>
            </a:r>
            <a:r>
              <a:rPr lang="en-US" sz="1100" dirty="0"/>
              <a:t>, </a:t>
            </a:r>
            <a:r>
              <a:rPr lang="en-US" sz="1100" dirty="0" err="1"/>
              <a:t>rz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B7AD12D-E3C8-06F9-77F9-018B1150AA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2267" y="3459943"/>
            <a:ext cx="2933954" cy="3657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F126-27E6-37A1-E3BB-C4CD4E52ED4F}"/>
              </a:ext>
            </a:extLst>
          </p:cNvPr>
          <p:cNvSpPr txBox="1"/>
          <p:nvPr/>
        </p:nvSpPr>
        <p:spPr>
          <a:xfrm>
            <a:off x="1733426" y="3778685"/>
            <a:ext cx="2533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Fx</a:t>
            </a:r>
            <a:r>
              <a:rPr lang="en-US" sz="1200" dirty="0"/>
              <a:t>,    Fy,       Fz,    Mx,   My,    </a:t>
            </a:r>
            <a:r>
              <a:rPr lang="en-US" sz="1200" dirty="0" err="1"/>
              <a:t>Mz</a:t>
            </a:r>
            <a:endParaRPr lang="en-US" sz="2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9D27478-C36D-11A6-89B3-1F706F468C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1143" y="4144477"/>
            <a:ext cx="2438611" cy="38865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8ACE770-9085-B5B2-F04C-620A10903E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2267" y="4751585"/>
            <a:ext cx="3406435" cy="38865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5FA6673-FE3B-B2DF-A887-B0F080A257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349" y="5379288"/>
            <a:ext cx="4740051" cy="381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992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C1428-F892-F3FF-AD07-18E45C0B8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input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CC6B140-6DC2-AF56-1286-18D33D797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2972058" cy="365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80D18E-729E-8B88-1E00-0082EE3BFC47}"/>
              </a:ext>
            </a:extLst>
          </p:cNvPr>
          <p:cNvSpPr txBox="1"/>
          <p:nvPr/>
        </p:nvSpPr>
        <p:spPr>
          <a:xfrm>
            <a:off x="1828800" y="2238241"/>
            <a:ext cx="22990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ux</a:t>
            </a:r>
            <a:r>
              <a:rPr lang="en-US" sz="1100" dirty="0"/>
              <a:t>,     </a:t>
            </a:r>
            <a:r>
              <a:rPr lang="en-US" sz="1100" dirty="0" err="1"/>
              <a:t>uy</a:t>
            </a:r>
            <a:r>
              <a:rPr lang="en-US" sz="1100" dirty="0"/>
              <a:t>,      </a:t>
            </a:r>
            <a:r>
              <a:rPr lang="en-US" sz="1100" dirty="0" err="1"/>
              <a:t>uz</a:t>
            </a:r>
            <a:r>
              <a:rPr lang="en-US" sz="1100" dirty="0"/>
              <a:t>,     </a:t>
            </a:r>
            <a:r>
              <a:rPr lang="en-US" sz="1100" dirty="0" err="1"/>
              <a:t>rx</a:t>
            </a:r>
            <a:r>
              <a:rPr lang="en-US" sz="1100" dirty="0"/>
              <a:t>,      </a:t>
            </a:r>
            <a:r>
              <a:rPr lang="en-US" sz="1100" dirty="0" err="1"/>
              <a:t>ry</a:t>
            </a:r>
            <a:r>
              <a:rPr lang="en-US" sz="1100" dirty="0"/>
              <a:t>,       </a:t>
            </a:r>
            <a:r>
              <a:rPr lang="en-US" sz="1100" dirty="0" err="1"/>
              <a:t>rz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80EEA4-E19D-1994-91B2-945E532FD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727991"/>
            <a:ext cx="2149026" cy="381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3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5B26F-D674-B713-3D4D-134C397E5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DSM Solver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437F8-9BBE-B4A1-7F28-35591595D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Reads the .</a:t>
            </a:r>
            <a:r>
              <a:rPr lang="en-US" dirty="0" err="1"/>
              <a:t>json</a:t>
            </a:r>
            <a:r>
              <a:rPr lang="en-US" dirty="0"/>
              <a:t> input files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Define Global Degrees of Freedom (DOF)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Element-Level Calculations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Equivalent Nodal Loads (FEFs)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Assemble Global System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Build Global Load Vector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Apply Boundary Conditions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Solve System of Equations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Support Reactions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Recover Element Forces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Post-Processing &amp;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585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14975-955E-37BD-3D1A-E1C97C508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9CA31-B821-C643-D183-0860C8D05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1						Example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72B4CB-ECD0-27F4-9A38-788082A57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362200"/>
            <a:ext cx="5153928" cy="2486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338DBD-8DE3-9F5B-3835-C0A860BCF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362200"/>
            <a:ext cx="3261064" cy="310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055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FAC6B-51BE-201D-037C-8D948DD7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536A3-10D7-3C6C-BB75-3AC31FC4F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Analytical Results					Computational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436455-8F09-5A8C-667F-40852B623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07" y="2286000"/>
            <a:ext cx="3977512" cy="37606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7E3A41-8FED-2D6D-D6C5-BBCBD8570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055" y="2283781"/>
            <a:ext cx="3635055" cy="18289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AD3A3C-78B1-39C8-DFF5-B7B6EAAF8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5055" y="4267200"/>
            <a:ext cx="4282811" cy="127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852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128F3-FEA7-194A-26CC-A2AD3B9F0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A1F05-AD3A-81FE-27F8-EA9E4FB83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Analytical Results					Computational Results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are close but not exact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Differences due to: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3D model vs 2D hand calculation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Additional DOFs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Modeling input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12E8CE-29DE-AE2C-0F1D-305B1E250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5" y="2362200"/>
            <a:ext cx="4282811" cy="5486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0819CF-7FC4-2719-BDE0-59BE61891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87" y="2362200"/>
            <a:ext cx="2232853" cy="960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539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7A03E-E483-C10A-1A40-37CA0E515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9816E-5A78-50FB-2951-072BFD33B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Structural Idealization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Modeled bridge using 3D frame + truss elements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Element Type Selection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Allowed users more flexibility in choosing member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Boundary Conditions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Fixed DOFs [</a:t>
            </a:r>
            <a:r>
              <a:rPr lang="en-US" dirty="0" err="1"/>
              <a:t>u</a:t>
            </a:r>
            <a:r>
              <a:rPr lang="en-US" baseline="-25000" dirty="0" err="1"/>
              <a:t>x</a:t>
            </a:r>
            <a:r>
              <a:rPr lang="en-US" dirty="0"/>
              <a:t>, </a:t>
            </a:r>
            <a:r>
              <a:rPr lang="en-US" dirty="0" err="1"/>
              <a:t>u</a:t>
            </a:r>
            <a:r>
              <a:rPr lang="en-US" baseline="-25000" dirty="0" err="1"/>
              <a:t>y</a:t>
            </a:r>
            <a:r>
              <a:rPr lang="en-US" dirty="0"/>
              <a:t>, </a:t>
            </a:r>
            <a:r>
              <a:rPr lang="en-US" dirty="0" err="1"/>
              <a:t>u</a:t>
            </a:r>
            <a:r>
              <a:rPr lang="en-US" baseline="-25000" dirty="0" err="1"/>
              <a:t>z</a:t>
            </a:r>
            <a:r>
              <a:rPr lang="en-US" dirty="0"/>
              <a:t>, </a:t>
            </a:r>
            <a:r>
              <a:rPr lang="en-US" dirty="0" err="1"/>
              <a:t>r</a:t>
            </a:r>
            <a:r>
              <a:rPr lang="en-US" baseline="-25000" dirty="0" err="1"/>
              <a:t>x</a:t>
            </a:r>
            <a:r>
              <a:rPr lang="en-US" dirty="0"/>
              <a:t>, </a:t>
            </a:r>
            <a:r>
              <a:rPr lang="en-US" dirty="0" err="1"/>
              <a:t>r</a:t>
            </a:r>
            <a:r>
              <a:rPr lang="en-US" baseline="-25000" dirty="0" err="1"/>
              <a:t>y</a:t>
            </a:r>
            <a:r>
              <a:rPr lang="en-US" dirty="0"/>
              <a:t>, </a:t>
            </a:r>
            <a:r>
              <a:rPr lang="en-US" dirty="0" err="1"/>
              <a:t>r</a:t>
            </a:r>
            <a:r>
              <a:rPr lang="en-US" baseline="-25000" dirty="0" err="1"/>
              <a:t>z</a:t>
            </a:r>
            <a:r>
              <a:rPr lang="en-US" dirty="0"/>
              <a:t>] where base nodes fully restrained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Geometry Simplification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Material Assumptions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Case Selection</a:t>
            </a:r>
          </a:p>
        </p:txBody>
      </p:sp>
    </p:spTree>
    <p:extLst>
      <p:ext uri="{BB962C8B-B14F-4D97-AF65-F5344CB8AC3E}">
        <p14:creationId xmlns:p14="http://schemas.microsoft.com/office/powerpoint/2010/main" val="884238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EF1E3-9620-785A-624A-E85550B6D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structure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D23C1-2083-AD41-58D1-25626D99C6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 Line Moynihan Connector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Located in NYC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Sections (Steel Viaduct and Timber Bridge)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260 ft span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Frame Elements for main longitudinal and transverse members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Truss Elements assigned to diagonal members</a:t>
            </a:r>
          </a:p>
          <a:p>
            <a:endParaRPr lang="en-US" dirty="0"/>
          </a:p>
          <a:p>
            <a:r>
              <a:rPr lang="en-US" dirty="0"/>
              <a:t>Why?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Take a bridge and apply truss and frame elements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 Two Case Studies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Case 1: What are the effects during a Polar Vortex?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Case 2: What if received a bad batch of timber</a:t>
            </a:r>
          </a:p>
        </p:txBody>
      </p:sp>
      <p:pic>
        <p:nvPicPr>
          <p:cNvPr id="1026" name="Picture 2" descr="Building of the Day: High Line - Moynihan Connector - Calendar - AIA New  York / Center for Architecture">
            <a:extLst>
              <a:ext uri="{FF2B5EF4-FFF2-40B4-BE49-F238E27FC236}">
                <a16:creationId xmlns:a16="http://schemas.microsoft.com/office/drawing/2014/main" id="{A65233CE-AD20-A518-1639-C29F32BA5E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75" y="1781070"/>
            <a:ext cx="5715000" cy="3402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1012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F57C4-B9F4-2779-5875-6E1179C22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Loads applied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27A70-65F0-56B6-A4E4-6F4D46A8A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Applied 2 kips at each node for gravity loads (pedestrians and deck weight)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Applied additional -0.5 kip/ft member gravity 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Applied -0.15 kip/ft transverse loads (wind)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Loads were chosen as realistic approximations based on typical bridge loading, then simplified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BEA4C-B8DC-58B0-8713-D49E2169E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5" y="3429000"/>
            <a:ext cx="6400800" cy="264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523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81749-3109-9A85-E3EA-C3F9200F1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structure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88AD5-BE17-3B08-BFF6-9A1D550E6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Largest displacement: -0.461 ft in the transverse (y) direction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 is unexpected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Gravity load should be governing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Structure Input Possibilities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Largest Axial Load: 404 kips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52586F-C939-011D-DED0-0A25AFD38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9016" y="1834718"/>
            <a:ext cx="3846584" cy="381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431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D9020-CD80-02DB-F861-63DF3EBF4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1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558B0-9D5E-E236-3993-3664088B8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Polar vortex dropping temperatures to -40 degrees Fahrenheit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Assuming Delta T change of 100 degrees colder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Largest displacement: -0.642 ft (very similar to base study)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Largest axial load: 654 kips (significantly higher than base study)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 things learned: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While being fully restrained, members will want to contract</a:t>
            </a:r>
          </a:p>
          <a:p>
            <a:pPr lvl="1"/>
            <a:r>
              <a:rPr lang="en-US" dirty="0"/>
              <a:t>      adding additional axial stress on the members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Overall shape of the structure will stay relatively the same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48D849-9D3A-D734-76A9-ACC18B8FD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9016" y="1828800"/>
            <a:ext cx="3846584" cy="380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189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02E7E-8BC6-B4F5-1C48-8FD55D68D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2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51131-A5A4-4FDC-5634-1AEE546C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Bad batch of timber / termite infestation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Modified some members to have lower stiffness 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Switched primary members to have 0.3*E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Removed one beam on the bottom 0*E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Possible to replace without adding additional support?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Max displacement: -0.816 ft (2x more than base case)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Maximum axial force: 433 kips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 things learned: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Reducing stiffness increases displacement significantly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Load redistributes to remaining members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3536C7-BC00-CD1B-F5DC-D70DFE578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1828800"/>
            <a:ext cx="3843536" cy="381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45627"/>
      </p:ext>
    </p:extLst>
  </p:cSld>
  <p:clrMapOvr>
    <a:masterClrMapping/>
  </p:clrMapOvr>
</p:sld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fcaeb239-e0ad-43c4-9739-4084ddd7c62f_wac_v2" id="{21E82CDE-DB0F-446A-AB1C-C548E4C4E61C}" vid="{FC4C4127-EA88-45F9-9442-09B36E6C916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EA42C18-4C38-43BB-8CE3-C963EDA9CBB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CC3B381C-6232-408C-B65A-8475398E4C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E0AE46-2EED-447A-8B24-DFD65B70D44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{5ECF2DFE-01C8-42B6-AB85-FD16825983A4}0f45c1b8-b519-4737-8f12-a18148944ef7-TFfcaeb239-e0ad-43c4-9739-4084ddd7c62fe496f549_win32</Template>
  <TotalTime>239</TotalTime>
  <Words>538</Words>
  <Application>Microsoft Office PowerPoint</Application>
  <PresentationFormat>Widescreen</PresentationFormat>
  <Paragraphs>98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Bahnschrift SemiLight</vt:lpstr>
      <vt:lpstr>Blockwork elegance</vt:lpstr>
      <vt:lpstr>CEE 6501 Final Project</vt:lpstr>
      <vt:lpstr>Presentation outline</vt:lpstr>
      <vt:lpstr>GitHub and code structure</vt:lpstr>
      <vt:lpstr>User input</vt:lpstr>
      <vt:lpstr>User input</vt:lpstr>
      <vt:lpstr>DSM Solver Workflow</vt:lpstr>
      <vt:lpstr>Validation</vt:lpstr>
      <vt:lpstr>Example 1</vt:lpstr>
      <vt:lpstr>Example 2</vt:lpstr>
      <vt:lpstr>Key decisions</vt:lpstr>
      <vt:lpstr>Complex structure study</vt:lpstr>
      <vt:lpstr>Loads applied</vt:lpstr>
      <vt:lpstr>Base structure results</vt:lpstr>
      <vt:lpstr>Case 1 results</vt:lpstr>
      <vt:lpstr>Case 2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Harrow, Wynn</dc:creator>
  <cp:lastModifiedBy>Harrow, Wynn</cp:lastModifiedBy>
  <cp:revision>12</cp:revision>
  <dcterms:created xsi:type="dcterms:W3CDTF">2026-04-24T01:45:45Z</dcterms:created>
  <dcterms:modified xsi:type="dcterms:W3CDTF">2026-04-24T05:45:22Z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