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20"/>
  </p:notesMasterIdLst>
  <p:handoutMasterIdLst>
    <p:handoutMasterId r:id="rId21"/>
  </p:handoutMasterIdLst>
  <p:sldIdLst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7" r:id="rId15"/>
    <p:sldId id="272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30"/>
  </p:normalViewPr>
  <p:slideViewPr>
    <p:cSldViewPr showGuides="1">
      <p:cViewPr varScale="1">
        <p:scale>
          <a:sx n="86" d="100"/>
          <a:sy n="86" d="100"/>
        </p:scale>
        <p:origin x="56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AC2C24E-B95E-481D-968E-0BDCFC72F656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1415DC98-F527-4737-A5B9-3597210FA2F7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188889-44B4-42BD-84DC-2D1A93FD44C7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EB29E-E91D-4BC9-BE3F-394F6FDC9AC7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AD7DA-2107-4637-8C8D-3B775970879B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597AFA7-1C4B-4AAF-9FD8-61D1DA4C999A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5F7DF4-8BE0-4832-9230-78DDDEC4B6DD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C1166B1E-1AFA-4A7F-9646-409FBAA0A887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4/23/2026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4/23/2026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AA28231D-ABE1-4859-B037-5D42FA8F4858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4/23/2026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4/23/2026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4/23/2026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4/23/2026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4/23/2026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B608D6C-D0F1-479F-911E-8569D2F1ED15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BCFCC67-CBC1-48BE-A467-33E284003C9C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8CAF44C-1683-44E3-97C5-DF51C69BF7AA}" type="datetime1">
              <a:rPr lang="en-US" smtClean="0"/>
              <a:t>4/23/2026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4/23/2026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0C8FE45-F91B-4375-B362-4DC6F9A2A304}" type="datetime1">
              <a:rPr lang="en-US" smtClean="0"/>
              <a:t>4/23/2026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4/23/2026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4/23/2026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95FFA61-E651-4E50-A159-710A5ED7E6FE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E9E0D87-B7D0-4C2E-BAD1-97A555313A20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9814657-813A-4D7B-A2F8-E573BA1645D3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CEE 6501 Final Project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By: Wynn Harrow</a:t>
            </a:r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A3F01-4B15-10BD-75DC-EF6E91D08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DE967-C090-9C46-7C85-E0EABDB55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GitHub and Code Structure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User Input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DSM Solver Workflow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Validations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Complex Structure Study</a:t>
            </a:r>
          </a:p>
        </p:txBody>
      </p:sp>
    </p:spTree>
    <p:extLst>
      <p:ext uri="{BB962C8B-B14F-4D97-AF65-F5344CB8AC3E}">
        <p14:creationId xmlns:p14="http://schemas.microsoft.com/office/powerpoint/2010/main" val="2365065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00A00-60FB-FF61-FED2-312EA61F4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and code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0C44B7-DC3F-6CF4-6769-076EFD3D8E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1600200"/>
            <a:ext cx="3097047" cy="48040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9BF97B-D540-DCE1-D807-732896173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1575047"/>
            <a:ext cx="3444538" cy="20804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4F3A21-C41C-76B6-DD93-73A50F5EB7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3802708"/>
            <a:ext cx="4343400" cy="2601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13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AAD10-9DC0-F16A-7063-220EA2DBA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2E1129-77F7-2F61-4773-A05C8285B8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1828800"/>
            <a:ext cx="1889924" cy="5944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25C277-169B-483C-96E3-2A79A3572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1828800"/>
            <a:ext cx="8062659" cy="3886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5F10C9-4D9C-7C64-8BB1-8483D32BF3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201" y="2344433"/>
            <a:ext cx="5257800" cy="2199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56F138-056A-3F00-05B2-3844EB3310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2267" y="2709111"/>
            <a:ext cx="1996613" cy="4267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F90CC6F-969A-AF7C-80E9-4EC2F8F0F185}"/>
              </a:ext>
            </a:extLst>
          </p:cNvPr>
          <p:cNvSpPr txBox="1"/>
          <p:nvPr/>
        </p:nvSpPr>
        <p:spPr>
          <a:xfrm>
            <a:off x="1816092" y="2297668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x,    y,   z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3F89B3-8ACA-7B68-54EB-1CA96030A730}"/>
              </a:ext>
            </a:extLst>
          </p:cNvPr>
          <p:cNvSpPr txBox="1"/>
          <p:nvPr/>
        </p:nvSpPr>
        <p:spPr>
          <a:xfrm>
            <a:off x="1752600" y="3091190"/>
            <a:ext cx="13756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/>
              <a:t>ux</a:t>
            </a:r>
            <a:r>
              <a:rPr lang="en-US" sz="1100" dirty="0"/>
              <a:t>, </a:t>
            </a:r>
            <a:r>
              <a:rPr lang="en-US" sz="1100" dirty="0" err="1"/>
              <a:t>uy</a:t>
            </a:r>
            <a:r>
              <a:rPr lang="en-US" sz="1100" dirty="0"/>
              <a:t>, </a:t>
            </a:r>
            <a:r>
              <a:rPr lang="en-US" sz="1100" dirty="0" err="1"/>
              <a:t>uz</a:t>
            </a:r>
            <a:r>
              <a:rPr lang="en-US" sz="1100" dirty="0"/>
              <a:t>, </a:t>
            </a:r>
            <a:r>
              <a:rPr lang="en-US" sz="1100" dirty="0" err="1"/>
              <a:t>rx</a:t>
            </a:r>
            <a:r>
              <a:rPr lang="en-US" sz="1100" dirty="0"/>
              <a:t>, </a:t>
            </a:r>
            <a:r>
              <a:rPr lang="en-US" sz="1100" dirty="0" err="1"/>
              <a:t>ry</a:t>
            </a:r>
            <a:r>
              <a:rPr lang="en-US" sz="1100" dirty="0"/>
              <a:t>, </a:t>
            </a:r>
            <a:r>
              <a:rPr lang="en-US" sz="1100" dirty="0" err="1"/>
              <a:t>rz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B7AD12D-E3C8-06F9-77F9-018B1150AA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2267" y="3459943"/>
            <a:ext cx="2933954" cy="36579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5C2F126-27E6-37A1-E3BB-C4CD4E52ED4F}"/>
              </a:ext>
            </a:extLst>
          </p:cNvPr>
          <p:cNvSpPr txBox="1"/>
          <p:nvPr/>
        </p:nvSpPr>
        <p:spPr>
          <a:xfrm>
            <a:off x="1733426" y="3778685"/>
            <a:ext cx="25337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Fx</a:t>
            </a:r>
            <a:r>
              <a:rPr lang="en-US" sz="1200" dirty="0"/>
              <a:t>,    Fy,       Fz,    Mx,   My,    </a:t>
            </a:r>
            <a:r>
              <a:rPr lang="en-US" sz="1200" dirty="0" err="1"/>
              <a:t>Mz</a:t>
            </a:r>
            <a:endParaRPr lang="en-US" sz="2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9D27478-C36D-11A6-89B3-1F706F468C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1143" y="4144477"/>
            <a:ext cx="2438611" cy="38865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8ACE770-9085-B5B2-F04C-620A10903E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2267" y="4751585"/>
            <a:ext cx="3406435" cy="38865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5FA6673-FE3B-B2DF-A887-B0F080A257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6349" y="5379288"/>
            <a:ext cx="4740051" cy="38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992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C1428-F892-F3FF-AD07-18E45C0B8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C6B140-6DC2-AF56-1286-18D33D7976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1905000"/>
            <a:ext cx="2972058" cy="3657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80D18E-729E-8B88-1E00-0082EE3BFC47}"/>
              </a:ext>
            </a:extLst>
          </p:cNvPr>
          <p:cNvSpPr txBox="1"/>
          <p:nvPr/>
        </p:nvSpPr>
        <p:spPr>
          <a:xfrm>
            <a:off x="1828800" y="2238241"/>
            <a:ext cx="22990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/>
              <a:t>ux</a:t>
            </a:r>
            <a:r>
              <a:rPr lang="en-US" sz="1100" dirty="0"/>
              <a:t>,     </a:t>
            </a:r>
            <a:r>
              <a:rPr lang="en-US" sz="1100" dirty="0" err="1"/>
              <a:t>uy</a:t>
            </a:r>
            <a:r>
              <a:rPr lang="en-US" sz="1100" dirty="0"/>
              <a:t>,      </a:t>
            </a:r>
            <a:r>
              <a:rPr lang="en-US" sz="1100" dirty="0" err="1"/>
              <a:t>uz</a:t>
            </a:r>
            <a:r>
              <a:rPr lang="en-US" sz="1100" dirty="0"/>
              <a:t>,     </a:t>
            </a:r>
            <a:r>
              <a:rPr lang="en-US" sz="1100" dirty="0" err="1"/>
              <a:t>rx</a:t>
            </a:r>
            <a:r>
              <a:rPr lang="en-US" sz="1100" dirty="0"/>
              <a:t>,      </a:t>
            </a:r>
            <a:r>
              <a:rPr lang="en-US" sz="1100" dirty="0" err="1"/>
              <a:t>ry</a:t>
            </a:r>
            <a:r>
              <a:rPr lang="en-US" sz="1100" dirty="0"/>
              <a:t>,       </a:t>
            </a:r>
            <a:r>
              <a:rPr lang="en-US" sz="1100" dirty="0" err="1"/>
              <a:t>rz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80EEA4-E19D-1994-91B2-945E532FD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727991"/>
            <a:ext cx="2149026" cy="38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23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5B26F-D674-B713-3D4D-134C397E5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DSM Solver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437F8-9BBE-B4A1-7F28-35591595D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Reads the .</a:t>
            </a:r>
            <a:r>
              <a:rPr lang="en-US" dirty="0" err="1"/>
              <a:t>json</a:t>
            </a:r>
            <a:r>
              <a:rPr lang="en-US" dirty="0"/>
              <a:t> input files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Define Global Degrees of Freedom (DOF)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Element-Level Calculations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Compute Equivalent Nodal Loads (FEFs)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Assemble Global System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Build Global Load Vector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Apply Boundary Conditions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Solve System of Equations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Compute Support Reactions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Recover Element Forces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Post-Processing &amp;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585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14975-955E-37BD-3D1A-E1C97C508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9CA31-B821-C643-D183-0860C8D05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1						Example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72B4CB-ECD0-27F4-9A38-788082A57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362200"/>
            <a:ext cx="5153928" cy="24866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338DBD-8DE3-9F5B-3835-C0A860BCF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362200"/>
            <a:ext cx="3261064" cy="310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055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FAC6B-51BE-201D-037C-8D948DD73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536A3-10D7-3C6C-BB75-3AC31FC4F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Analytical Results					Computational 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436455-8F09-5A8C-667F-40852B623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907" y="2286000"/>
            <a:ext cx="3977512" cy="37606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7E3A41-8FED-2D6D-D6C5-BBCBD8570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055" y="2283781"/>
            <a:ext cx="3635055" cy="18289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3AD3A3C-78B1-39C8-DFF5-B7B6EAAF8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5055" y="4267200"/>
            <a:ext cx="4282811" cy="127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852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128F3-FEA7-194A-26CC-A2AD3B9F0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A1F05-AD3A-81FE-27F8-EA9E4FB83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Analytical Results					Computational Results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Results are close but not exact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Differences due to: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dirty="0"/>
              <a:t>3D model vs 2D hand calculation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dirty="0"/>
              <a:t>Additional DOFs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dirty="0"/>
              <a:t>Modeling input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12E8CE-29DE-AE2C-0F1D-305B1E250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5" y="2362200"/>
            <a:ext cx="4282811" cy="5486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0819CF-7FC4-2719-BDE0-59BE61891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287" y="2362200"/>
            <a:ext cx="2232853" cy="960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539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EF1E3-9620-785A-624A-E85550B6D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structure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D23C1-2083-AD41-58D1-25626D99C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Line Moynihan Connector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Located in NYC (2023)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 Sections (Steel Viaduct and Timber Bridge)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260 ft span, 20ft height, 15.5 ft width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Frame Elements for main longitudinal and transverse members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Truss Elements assigned to diagonal members</a:t>
            </a:r>
          </a:p>
          <a:p>
            <a:endParaRPr lang="en-US" dirty="0"/>
          </a:p>
          <a:p>
            <a:r>
              <a:rPr lang="en-US" dirty="0"/>
              <a:t>Why?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Take a bridge and apply truss and frame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 Two Case Studies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dirty="0"/>
              <a:t>Case 1: What are the effects during a Polar Vortex?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dirty="0"/>
              <a:t>Case 2: What if received a bad batch of timber</a:t>
            </a:r>
          </a:p>
        </p:txBody>
      </p:sp>
      <p:pic>
        <p:nvPicPr>
          <p:cNvPr id="1026" name="Picture 2" descr="Building of the Day: High Line - Moynihan Connector - Calendar - AIA New  York / Center for Architecture">
            <a:extLst>
              <a:ext uri="{FF2B5EF4-FFF2-40B4-BE49-F238E27FC236}">
                <a16:creationId xmlns:a16="http://schemas.microsoft.com/office/drawing/2014/main" id="{A65233CE-AD20-A518-1639-C29F32BA5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475" y="1781070"/>
            <a:ext cx="5715000" cy="3402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1012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7A03E-E483-C10A-1A40-37CA0E51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9816E-5A78-50FB-2951-072BFD33B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Structural Idealization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dirty="0"/>
              <a:t>Modeled bridge using 3D frame + truss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Element Type Selection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dirty="0"/>
              <a:t>Allowed users more flexibility in choosing member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Boundary Conditions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dirty="0"/>
              <a:t>Fixed DOFs [</a:t>
            </a:r>
            <a:r>
              <a:rPr lang="en-US" dirty="0" err="1"/>
              <a:t>u</a:t>
            </a:r>
            <a:r>
              <a:rPr lang="en-US" baseline="-25000" dirty="0" err="1"/>
              <a:t>x</a:t>
            </a:r>
            <a:r>
              <a:rPr lang="en-US" dirty="0"/>
              <a:t>, </a:t>
            </a:r>
            <a:r>
              <a:rPr lang="en-US" dirty="0" err="1"/>
              <a:t>u</a:t>
            </a:r>
            <a:r>
              <a:rPr lang="en-US" baseline="-25000" dirty="0" err="1"/>
              <a:t>y</a:t>
            </a:r>
            <a:r>
              <a:rPr lang="en-US" dirty="0"/>
              <a:t>, </a:t>
            </a:r>
            <a:r>
              <a:rPr lang="en-US" dirty="0" err="1"/>
              <a:t>u</a:t>
            </a:r>
            <a:r>
              <a:rPr lang="en-US" baseline="-25000" dirty="0" err="1"/>
              <a:t>z</a:t>
            </a:r>
            <a:r>
              <a:rPr lang="en-US" dirty="0"/>
              <a:t>, </a:t>
            </a:r>
            <a:r>
              <a:rPr lang="en-US" dirty="0" err="1"/>
              <a:t>r</a:t>
            </a:r>
            <a:r>
              <a:rPr lang="en-US" baseline="-25000" dirty="0" err="1"/>
              <a:t>x</a:t>
            </a:r>
            <a:r>
              <a:rPr lang="en-US" dirty="0"/>
              <a:t>, </a:t>
            </a:r>
            <a:r>
              <a:rPr lang="en-US" dirty="0" err="1"/>
              <a:t>r</a:t>
            </a:r>
            <a:r>
              <a:rPr lang="en-US" baseline="-25000" dirty="0" err="1"/>
              <a:t>y</a:t>
            </a:r>
            <a:r>
              <a:rPr lang="en-US" dirty="0"/>
              <a:t>, </a:t>
            </a:r>
            <a:r>
              <a:rPr lang="en-US" dirty="0" err="1"/>
              <a:t>r</a:t>
            </a:r>
            <a:r>
              <a:rPr lang="en-US" baseline="-25000" dirty="0" err="1"/>
              <a:t>z</a:t>
            </a:r>
            <a:r>
              <a:rPr lang="en-US" dirty="0"/>
              <a:t>] where base nodes fully restrained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Geometry Simplification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Material Assumptions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dirty="0"/>
              <a:t>Linear Elastic Behavior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dirty="0"/>
              <a:t>E, A, I assumptions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Load Case Selection</a:t>
            </a:r>
          </a:p>
        </p:txBody>
      </p:sp>
    </p:spTree>
    <p:extLst>
      <p:ext uri="{BB962C8B-B14F-4D97-AF65-F5344CB8AC3E}">
        <p14:creationId xmlns:p14="http://schemas.microsoft.com/office/powerpoint/2010/main" val="884238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F57C4-B9F4-2779-5875-6E1179C22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Loads applied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27A70-65F0-56B6-A4E4-6F4D46A8A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Applied 2 kips at each node for gravity loads (pedestrians and deck weight)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Applied additional -0.5 kip/ft member gravity loads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Applied -0.15 kip/ft transverse loads (wind)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Loads were chosen as realistic approximations based on typical bridge loading, then simplified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FBEA4C-B8DC-58B0-8713-D49E2169E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075" y="3429000"/>
            <a:ext cx="6400800" cy="264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523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81749-3109-9A85-E3EA-C3F9200F1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structure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88AD5-BE17-3B08-BFF6-9A1D550E6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Largest displacement: -0.461 ft in the transverse (y) direction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Result is unexpected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Gravity load should be governing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Structure Input Possibilities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Largest Axial Load: 404 kips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52586F-C939-011D-DED0-0A25AFD38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9016" y="1834718"/>
            <a:ext cx="3846584" cy="381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431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D9020-CD80-02DB-F861-63DF3EBF4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1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558B0-9D5E-E236-3993-3664088B8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Polar vortex dropping temperatures to -40 degrees Fahrenheit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Assuming Delta T change of 100 degrees colder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Largest displacement: -0.642 ft (very similar to base study)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Largest axial load: 654 kips (significantly higher than base study)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Key things learned: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dirty="0"/>
              <a:t>While being fully restrained, members will want to contract</a:t>
            </a:r>
          </a:p>
          <a:p>
            <a:pPr lvl="1"/>
            <a:r>
              <a:rPr lang="en-US" dirty="0"/>
              <a:t>      adding additional axial stress on the members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dirty="0"/>
              <a:t>Overall shape of the structure will stay relatively the same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48D849-9D3A-D734-76A9-ACC18B8FD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9016" y="1828800"/>
            <a:ext cx="3846584" cy="380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189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02E7E-8BC6-B4F5-1C48-8FD55D68D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2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51131-A5A4-4FDC-5634-1AEE546C2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Bad batch of timber / termite infestation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Modified some members to have lower stiffness 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dirty="0"/>
              <a:t>Switched primary members to have 0.3*E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dirty="0"/>
              <a:t>Removed one beam on the bottom 0*E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Possible to replace without adding additional support?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Max displacement: -0.816 ft (2x more than base case)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Maximum axial force: 433 kips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Key things learned: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dirty="0"/>
              <a:t>Reducing stiffness increases displacement significantly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dirty="0"/>
              <a:t>Load redistributes to remaining members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3536C7-BC00-CD1B-F5DC-D70DFE578F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064" y="1828800"/>
            <a:ext cx="3843536" cy="381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645627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fcaeb239-e0ad-43c4-9739-4084ddd7c62f_wac_v2" id="{21E82CDE-DB0F-446A-AB1C-C548E4C4E61C}" vid="{FC4C4127-EA88-45F9-9442-09B36E6C91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{5ECF2DFE-01C8-42B6-AB85-FD16825983A4}0f45c1b8-b519-4737-8f12-a18148944ef7-TFfcaeb239-e0ad-43c4-9739-4084ddd7c62fe496f549_win32</Template>
  <TotalTime>838</TotalTime>
  <Words>555</Words>
  <Application>Microsoft Office PowerPoint</Application>
  <PresentationFormat>Widescreen</PresentationFormat>
  <Paragraphs>99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Bahnschrift SemiLight</vt:lpstr>
      <vt:lpstr>Blockwork elegance</vt:lpstr>
      <vt:lpstr>CEE 6501 Final Project</vt:lpstr>
      <vt:lpstr>Presentation outline</vt:lpstr>
      <vt:lpstr>GitHub and code structure</vt:lpstr>
      <vt:lpstr>User input</vt:lpstr>
      <vt:lpstr>User input</vt:lpstr>
      <vt:lpstr>DSM Solver Workflow</vt:lpstr>
      <vt:lpstr>Validation</vt:lpstr>
      <vt:lpstr>Example 1</vt:lpstr>
      <vt:lpstr>Example 2</vt:lpstr>
      <vt:lpstr>Complex structure study</vt:lpstr>
      <vt:lpstr>Key decisions</vt:lpstr>
      <vt:lpstr>Loads applied</vt:lpstr>
      <vt:lpstr>Base structure results</vt:lpstr>
      <vt:lpstr>Case 1 results</vt:lpstr>
      <vt:lpstr>Case 2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Harrow, Wynn</dc:creator>
  <cp:lastModifiedBy>Harrow, Wynn</cp:lastModifiedBy>
  <cp:revision>18</cp:revision>
  <dcterms:created xsi:type="dcterms:W3CDTF">2026-04-24T01:45:45Z</dcterms:created>
  <dcterms:modified xsi:type="dcterms:W3CDTF">2026-04-24T15:44:21Z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